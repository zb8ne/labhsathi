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.jpg" ContentType="image/jpg"/>
  <Override PartName="/ppt/media/image-3-2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 JEEVAN  ·  BIT N BUILD HACKATHON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Government services are organized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by department.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rgbClr val="FB92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People's lives are not.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74920" y="45262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9A341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2356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LabhSathi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document to benefit checklist.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50815" y="5806440"/>
            <a:ext cx="630022" cy="54864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1" name="Shape 9"/>
          <p:cNvSpPr/>
          <p:nvPr/>
        </p:nvSpPr>
        <p:spPr>
          <a:xfrm>
            <a:off x="5780837" y="5806440"/>
            <a:ext cx="630022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0858" y="5806440"/>
            <a:ext cx="630022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labhsathi.info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github.com/zb8ne/labhsathi</a:t>
            </a:r>
            <a:endParaRPr lang="en-US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5907024"/>
            <a:ext cx="121916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B923C"/>
                </a:solidFill>
                <a:latin typeface="IBM Plex Mono"/>
              </a:rPr>
              <a:t>TEAM · 404 JACKPOT!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72200"/>
            <a:ext cx="121916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8A29E"/>
                </a:solidFill>
                <a:latin typeface="IBM Plex Sans"/>
              </a:rPr>
              <a:t>Yash Sharma (Team Lead)  ·  Aryan Achuthan  ·  Krishna Mahesh Kolhapur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4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Meena needs help from three departments.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She only gets to explain her situation once.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9A341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74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Meena, 34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74520" y="2852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Bihar, rural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557016"/>
            <a:ext cx="82296" cy="82296"/>
          </a:xfrm>
          <a:prstGeom prst="ellipse">
            <a:avLst/>
          </a:prstGeom>
          <a:solidFill>
            <a:srgbClr val="9A3412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474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Agricultural worker, no landholding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968496"/>
            <a:ext cx="82296" cy="82296"/>
          </a:xfrm>
          <a:prstGeom prst="ellipse">
            <a:avLst/>
          </a:prstGeom>
          <a:solidFill>
            <a:srgbClr val="9A3412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886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Household income: ₹1.4 lakh / year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379976"/>
            <a:ext cx="82296" cy="82296"/>
          </a:xfrm>
          <a:prstGeom prst="ellipse">
            <a:avLst/>
          </a:prstGeom>
          <a:solidFill>
            <a:srgbClr val="9A3412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297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daughter, age 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4791456"/>
            <a:ext cx="82296" cy="82296"/>
          </a:xfrm>
          <a:prstGeom prst="ellipse">
            <a:avLst/>
          </a:prstGeom>
          <a:solidFill>
            <a:srgbClr val="9A3412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709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bank account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5202936"/>
            <a:ext cx="82296" cy="82296"/>
          </a:xfrm>
          <a:prstGeom prst="ellipse">
            <a:avLst/>
          </a:prstGeom>
          <a:solidFill>
            <a:srgbClr val="9A3412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20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Lives in a kutcha house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669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profile. Three departments' worth of need.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74920" y="2148840"/>
            <a:ext cx="2130552" cy="192024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33172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Agriculture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2834640"/>
            <a:ext cx="17647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 records, occupation proof, a separate scheme PDF per ministry office.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920" y="2148840"/>
            <a:ext cx="2130552" cy="192024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233172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43800" y="2834640"/>
            <a:ext cx="17647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SECC deprivation criteria, not income alone. A different portal to verify.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46920" y="2148840"/>
            <a:ext cx="2130552" cy="192024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233172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Financial inclusion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29800" y="2834640"/>
            <a:ext cx="17647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bank account yet. Pension and insurance schemes assume one already exists.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4251960"/>
            <a:ext cx="6263640" cy="2057400"/>
          </a:xfrm>
          <a:prstGeom prst="roundRect">
            <a:avLst>
              <a:gd name="adj" fmla="val 5333"/>
            </a:avLst>
          </a:prstGeom>
          <a:solidFill>
            <a:srgbClr val="1C1917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448056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household. Three essential needs.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5440680" y="4919472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B92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Zero connected journeys.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440680" y="5486400"/>
            <a:ext cx="553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Government services are organized by department. People's lives are not.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4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ONE ASSISTED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Scan once. See everything you qualify for.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581912"/>
            <a:ext cx="4974336" cy="2348002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12700">
            <a:solidFill>
              <a:srgbClr val="E7E0D4"/>
            </a:solidFill>
            <a:prstDash val="solid"/>
          </a:ln>
        </p:spPr>
      </p:sp>
      <p:pic>
        <p:nvPicPr>
          <p:cNvPr id="5" name="Image 0" descr="/tmp/claude-1000/-home-zbone-Projects-HACKATHON-bitnbuild/103f494c-0bf7-4181-8c39-e402283e4b40/scratchpad/deck-assets/meena-f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937760" cy="23114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82512" y="1581912"/>
            <a:ext cx="4974336" cy="2348002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12700">
            <a:solidFill>
              <a:srgbClr val="E7E0D4"/>
            </a:solidFill>
            <a:prstDash val="solid"/>
          </a:ln>
        </p:spPr>
      </p:sp>
      <p:pic>
        <p:nvPicPr>
          <p:cNvPr id="7" name="Image 1" descr="/tmp/claude-1000/-home-zbone-Projects-HACKATHON-bitnbuild/103f494c-0bf7-4181-8c39-e402283e4b40/scratchpad/deck-assets/meena-resul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23114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96649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Her situation, entered once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400800" y="396649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schemes, sorted by category, each with a reason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40080" y="4414546"/>
            <a:ext cx="3566160" cy="7132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446941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Agriculture &amp; livelihood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474373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MGNREGA, PM-SYM pension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89120" y="4414546"/>
            <a:ext cx="3566160" cy="7132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17720" y="446941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7720" y="474373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Ayushman Bharat PM-JAY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38160" y="4414546"/>
            <a:ext cx="3566160" cy="7132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446941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inclusion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366760" y="474373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 Dhan, Atal Pension Yojana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40080" y="528322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document scan is the common intake layer: it extracts age, income, occupation, state, category and land holding once, and the rules engine checks every domain against those same facts.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VERIFIABLE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privacy promise is structural, not a policy.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581912"/>
            <a:ext cx="5888736" cy="3440169"/>
          </a:xfrm>
          <a:prstGeom prst="roundRect">
            <a:avLst>
              <a:gd name="adj" fmla="val 1595"/>
            </a:avLst>
          </a:prstGeom>
          <a:solidFill>
            <a:srgbClr val="241F1C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76945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real stack, live: Rust/Axum · Kafka · Redis (60s TTL, GETDEL) · Postgres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0080" y="539496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241F1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AF7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Graceful failure by design: if the OCR worker is unavailable, /api/match still runs. Eligibility checking has zero dependency on the vision pipeline.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06</a:t>
            </a:r>
            <a:endParaRPr lang="en-US" sz="1000" dirty="0"/>
          </a:p>
        </p:txBody>
      </p:sp>
      <p:pic>
        <p:nvPicPr>
          <p:cNvPr id="30" name="Picture 29" descr="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53" y="1600200"/>
            <a:ext cx="5505413" cy="3403593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903720" y="1691640"/>
            <a:ext cx="4645152" cy="1929384"/>
          </a:xfrm>
          <a:prstGeom prst="roundRect">
            <a:avLst>
              <a:gd name="adj" fmla="val 6000"/>
            </a:avLst>
          </a:prstGeom>
          <a:solidFill>
            <a:srgbClr val="241F1C"/>
          </a:solidFill>
          <a:ln w="12700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03720" y="1691640"/>
            <a:ext cx="4645152" cy="320040"/>
          </a:xfrm>
          <a:prstGeom prst="roundRect">
            <a:avLst>
              <a:gd name="adj" fmla="val 0"/>
            </a:avLst>
          </a:prstGeom>
          <a:solidFill>
            <a:srgbClr val="44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32320" y="1813560"/>
            <a:ext cx="76200" cy="76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46620" y="1813560"/>
            <a:ext cx="76200" cy="7620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60920" y="1813560"/>
            <a:ext cx="76200" cy="76200"/>
          </a:xfrm>
          <a:prstGeom prst="ellipse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6660" y="1691640"/>
            <a:ext cx="3867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IBM Plex Mono"/>
              </a:rPr>
              <a:t>labhsathi-core/src/events.rs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029968"/>
            <a:ext cx="41879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AF7F2"/>
                </a:solidFill>
                <a:latin typeface="IBM Plex Mono"/>
              </a:rPr>
              <a:t>pub struct </a:t>
            </a:r>
            <a:r>
              <a:rPr sz="950" b="1">
                <a:solidFill>
                  <a:srgbClr val="FB923C"/>
                </a:solidFill>
                <a:latin typeface="IBM Plex Mono"/>
              </a:rPr>
              <a:t>DocumentJobCompleted</a:t>
            </a:r>
            <a:r>
              <a:rPr sz="950" b="0">
                <a:solidFill>
                  <a:srgbClr val="FAF7F2"/>
                </a:solidFill>
                <a:latin typeface="IBM Plex Mono"/>
              </a:rPr>
              <a:t>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249424"/>
            <a:ext cx="41879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AF7F2"/>
                </a:solidFill>
                <a:latin typeface="IBM Plex Mono"/>
              </a:rPr>
              <a:t>    pub job_id: JobId,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2468880"/>
            <a:ext cx="41879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AF7F2"/>
                </a:solidFill>
                <a:latin typeface="IBM Plex Mono"/>
              </a:rPr>
              <a:t>    pub status: JobStatus,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688336"/>
            <a:ext cx="41879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AF7F2"/>
                </a:solidFill>
                <a:latin typeface="IBM Plex Mono"/>
              </a:rPr>
              <a:t>    pub fields: Option&lt;ExtractedFields&gt;,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2907792"/>
            <a:ext cx="41879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AF7F2"/>
                </a:solidFill>
                <a:latin typeface="IBM Plex Mono"/>
              </a:rPr>
              <a:t>    pub ts: i64,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127248"/>
            <a:ext cx="41879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AF7F2"/>
                </a:solidFill>
                <a:latin typeface="IBM Plex Mono"/>
              </a:rPr>
              <a:t>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364992"/>
            <a:ext cx="3200400" cy="237744"/>
          </a:xfrm>
          <a:prstGeom prst="roundRect">
            <a:avLst>
              <a:gd name="adj" fmla="val 6000"/>
            </a:avLst>
          </a:prstGeom>
          <a:solidFill>
            <a:srgbClr val="3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3364992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>
                <a:solidFill>
                  <a:srgbClr val="FCA5A5"/>
                </a:solidFill>
                <a:latin typeface="IBM Plex Mono"/>
              </a:rPr>
              <a:t>no Vec&lt;u8&gt; -- nowhere for an image to go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3720" y="3877056"/>
            <a:ext cx="1456944" cy="822960"/>
          </a:xfrm>
          <a:prstGeom prst="roundRect">
            <a:avLst>
              <a:gd name="adj" fmla="val 6000"/>
            </a:avLst>
          </a:prstGeom>
          <a:solidFill>
            <a:srgbClr val="241F1C"/>
          </a:solidFill>
          <a:ln w="12700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3986784"/>
            <a:ext cx="1182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B923C"/>
                </a:solidFill>
                <a:latin typeface="Newsreader"/>
              </a:rPr>
              <a:t>&lt; 2s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297680"/>
            <a:ext cx="118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8A29E"/>
                </a:solidFill>
                <a:latin typeface="IBM Plex Sans"/>
              </a:rPr>
              <a:t>eligibility result, measured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97824" y="3877056"/>
            <a:ext cx="1456944" cy="822960"/>
          </a:xfrm>
          <a:prstGeom prst="roundRect">
            <a:avLst>
              <a:gd name="adj" fmla="val 6000"/>
            </a:avLst>
          </a:prstGeom>
          <a:solidFill>
            <a:srgbClr val="241F1C"/>
          </a:solidFill>
          <a:ln w="12700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34984" y="3986784"/>
            <a:ext cx="1182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B923C"/>
                </a:solidFill>
                <a:latin typeface="Newsreader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34984" y="4297680"/>
            <a:ext cx="118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8A29E"/>
                </a:solidFill>
                <a:latin typeface="IBM Plex Sans"/>
              </a:rPr>
              <a:t>image-shaped fields in either schema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91928" y="3877056"/>
            <a:ext cx="1456944" cy="822960"/>
          </a:xfrm>
          <a:prstGeom prst="roundRect">
            <a:avLst>
              <a:gd name="adj" fmla="val 6000"/>
            </a:avLst>
          </a:prstGeom>
          <a:solidFill>
            <a:srgbClr val="241F1C"/>
          </a:solidFill>
          <a:ln w="12700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29088" y="3986784"/>
            <a:ext cx="1182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B923C"/>
                </a:solidFill>
                <a:latin typeface="Newsreader"/>
              </a:rPr>
              <a:t>independent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29088" y="4297680"/>
            <a:ext cx="118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8A29E"/>
                </a:solidFill>
                <a:latin typeface="IBM Plex Sans"/>
              </a:rPr>
              <a:t>ocr-worker scales apart from matching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4837176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A8A29E"/>
                </a:solidFill>
                <a:latin typeface="IBM Plex Sans"/>
              </a:rPr>
              <a:t>Behind the scan -- one AI call, bounded on both sides: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5065776"/>
            <a:ext cx="4645152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0">
                <a:solidFill>
                  <a:srgbClr val="FAF7F2"/>
                </a:solidFill>
                <a:latin typeface="IBM Plex Mono"/>
              </a:rPr>
              <a:t>Upload</a:t>
            </a:r>
            <a:r>
              <a:rPr sz="1000" b="0">
                <a:solidFill>
                  <a:srgbClr val="A8A29E"/>
                </a:solidFill>
                <a:latin typeface="IBM Plex Mono"/>
              </a:rPr>
              <a:t> → </a:t>
            </a:r>
            <a:r>
              <a:rPr sz="1000" b="0">
                <a:solidFill>
                  <a:srgbClr val="FAF7F2"/>
                </a:solidFill>
                <a:latin typeface="IBM Plex Mono"/>
              </a:rPr>
              <a:t>Redis</a:t>
            </a:r>
            <a:r>
              <a:rPr sz="1000" b="0">
                <a:solidFill>
                  <a:srgbClr val="A8A29E"/>
                </a:solidFill>
                <a:latin typeface="IBM Plex Mono"/>
              </a:rPr>
              <a:t> → </a:t>
            </a:r>
            <a:r>
              <a:rPr sz="1000" b="0">
                <a:solidFill>
                  <a:srgbClr val="FAF7F2"/>
                </a:solidFill>
                <a:latin typeface="IBM Plex Mono"/>
              </a:rPr>
              <a:t>Kafka</a:t>
            </a:r>
            <a:r>
              <a:rPr sz="1000" b="0">
                <a:solidFill>
                  <a:srgbClr val="A8A29E"/>
                </a:solidFill>
                <a:latin typeface="IBM Plex Mono"/>
              </a:rPr>
              <a:t> → </a:t>
            </a:r>
            <a:r>
              <a:rPr sz="1000" b="1">
                <a:solidFill>
                  <a:srgbClr val="FB923C"/>
                </a:solidFill>
                <a:latin typeface="IBM Plex Mono"/>
              </a:rPr>
              <a:t>Claude Vision</a:t>
            </a:r>
            <a:r>
              <a:rPr sz="1000" b="0">
                <a:solidFill>
                  <a:srgbClr val="A8A29E"/>
                </a:solidFill>
                <a:latin typeface="IBM Plex Mono"/>
              </a:rPr>
              <a:t> → </a:t>
            </a:r>
            <a:r>
              <a:rPr sz="1000" b="0">
                <a:solidFill>
                  <a:srgbClr val="FAF7F2"/>
                </a:solidFill>
                <a:latin typeface="IBM Plex Mono"/>
              </a:rPr>
              <a:t>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4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FEASIBILITY, SCALABILITY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household today. Every CSC and NGO desk tomorrow.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51 / 51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Rust unit tests passing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2628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 / 100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2359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schemes with a cited official source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0" y="2359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targets: Railway, Docker Compose, kind + Helm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502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languages fully wired end to end: English, Hindi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2971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 →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502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ocr-worker replicas, HPA-scaled under real 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971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DF9"/>
          </a:solidFill>
          <a:ln w="12700">
            <a:solidFill>
              <a:srgbClr val="E7E0D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0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0" y="3502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leaked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Scale is the same flow, more desks.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9A341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6817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household, self-assessing at home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166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9A341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51846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Common Service Centre operator, same form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9A341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5669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56875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NGO field worker, same checklist output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46177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C1917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63524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Scope, stated plainly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507492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 central government schemes, hand curated and web-verified, not exhaustive. Every match reads worth checking, not approved, and links to the official portal to verify.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06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640080" y="6190488"/>
            <a:ext cx="644664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9A3412"/>
                </a:solidFill>
                <a:latin typeface="IBM Plex Sans"/>
              </a:rPr>
              <a:t>Expected impact: at roughly 50 people per desk per day (one assisted worker's daily rounds), reach scales with desks opened, not engineering added.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PROTOTYPE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7F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document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B92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 benefit checklist.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697480" cy="502920"/>
          </a:xfrm>
          <a:prstGeom prst="roundRect">
            <a:avLst>
              <a:gd name="adj" fmla="val 50909"/>
            </a:avLst>
          </a:prstGeom>
          <a:solidFill>
            <a:srgbClr val="241F1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7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labhsathi.info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2880360"/>
            <a:ext cx="3063240" cy="502920"/>
          </a:xfrm>
          <a:prstGeom prst="roundRect">
            <a:avLst>
              <a:gd name="adj" fmla="val 50909"/>
            </a:avLst>
          </a:prstGeom>
          <a:solidFill>
            <a:srgbClr val="241F1C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7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github.com/zb8ne/labhsathi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Hindi for the dynamically generated why-you-matched sentences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 household-member model, not one shared income field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SMS / WhatsApp front-end for low-smartphone-literacy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5715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KEDA autoscaling and 3-broker Kafka for production durability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85432" y="1124712"/>
            <a:ext cx="4261104" cy="2023856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/>
        </p:spPr>
      </p:sp>
      <p:pic>
        <p:nvPicPr>
          <p:cNvPr id="19" name="Image 0" descr="/tmp/claude-1000/-home-zbone-Projects-HACKATHON-bitnbuild/103f494c-0bf7-4181-8c39-e402283e4b40/scratchpad/deck-assets/meena-resul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170432"/>
            <a:ext cx="4206240" cy="196899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931152" y="3368024"/>
            <a:ext cx="1402080" cy="54864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1" name="Shape 18"/>
          <p:cNvSpPr/>
          <p:nvPr/>
        </p:nvSpPr>
        <p:spPr>
          <a:xfrm>
            <a:off x="8333232" y="3368024"/>
            <a:ext cx="140208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Shape 19"/>
          <p:cNvSpPr/>
          <p:nvPr/>
        </p:nvSpPr>
        <p:spPr>
          <a:xfrm>
            <a:off x="9735312" y="3368024"/>
            <a:ext cx="14020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0"/>
          <p:cNvSpPr/>
          <p:nvPr/>
        </p:nvSpPr>
        <p:spPr>
          <a:xfrm>
            <a:off x="6931152" y="36423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Bit N Build Hackathon 2026 · Jan Jeevan track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LabhSathi: Bit N Build 2026</dc:title>
  <dc:subject>PptxGenJS Presentation</dc:subject>
  <dc:creator>LabhSathi</dc:creator>
  <cp:lastModifiedBy>LabhSathi</cp:lastModifiedBy>
  <cp:revision>1</cp:revision>
  <dcterms:created xsi:type="dcterms:W3CDTF">2026-09-12T12:57:58Z</dcterms:created>
  <dcterms:modified xsi:type="dcterms:W3CDTF">2026-09-12T12:57:58Z</dcterms:modified>
</cp:coreProperties>
</file>