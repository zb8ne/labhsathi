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BBF2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JAN JEEVAN  ·  BIT N BUILD HACKATHON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AF7F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Government services are organized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AF7F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by department.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42900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i="1" dirty="0">
                <a:solidFill>
                  <a:srgbClr val="FB923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People's lives are not.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074920" y="45262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9A3412"/>
          </a:solidFill>
          <a:ln/>
        </p:spPr>
      </p:sp>
      <p:sp>
        <p:nvSpPr>
          <p:cNvPr id="7" name="Text 5"/>
          <p:cNvSpPr/>
          <p:nvPr/>
        </p:nvSpPr>
        <p:spPr>
          <a:xfrm>
            <a:off x="5074920" y="4526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AF7F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ल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623560" y="4526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AF7F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LabhSathi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0" y="51206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From document to benefit checklist.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150815" y="5806440"/>
            <a:ext cx="630022" cy="54864"/>
          </a:xfrm>
          <a:prstGeom prst="rect">
            <a:avLst/>
          </a:prstGeom>
          <a:solidFill>
            <a:srgbClr val="9A3412"/>
          </a:solidFill>
          <a:ln/>
        </p:spPr>
      </p:sp>
      <p:sp>
        <p:nvSpPr>
          <p:cNvPr id="11" name="Shape 9"/>
          <p:cNvSpPr/>
          <p:nvPr/>
        </p:nvSpPr>
        <p:spPr>
          <a:xfrm>
            <a:off x="5780837" y="5806440"/>
            <a:ext cx="630022" cy="54864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12" name="Shape 10"/>
          <p:cNvSpPr/>
          <p:nvPr/>
        </p:nvSpPr>
        <p:spPr>
          <a:xfrm>
            <a:off x="6410858" y="5806440"/>
            <a:ext cx="630022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labhsathi.info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38160" y="6446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github.com/zb8ne/labhsathi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34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· 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917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Meena needs help from three departments.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9A34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She only gets to explain her situation once.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4160520" cy="4160520"/>
          </a:xfrm>
          <a:prstGeom prst="roundRect">
            <a:avLst>
              <a:gd name="adj" fmla="val 2637"/>
            </a:avLst>
          </a:prstGeom>
          <a:solidFill>
            <a:srgbClr val="FFFDF9"/>
          </a:solidFill>
          <a:ln w="12700">
            <a:solidFill>
              <a:srgbClr val="E7E0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46888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9A341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4688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AF7F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74520" y="2514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1917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Meena, 34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74520" y="28529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Bihar, rural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60120" y="3557016"/>
            <a:ext cx="82296" cy="82296"/>
          </a:xfrm>
          <a:prstGeom prst="ellipse">
            <a:avLst/>
          </a:prstGeom>
          <a:solidFill>
            <a:srgbClr val="9A3412"/>
          </a:solidFill>
          <a:ln/>
        </p:spPr>
      </p:sp>
      <p:sp>
        <p:nvSpPr>
          <p:cNvPr id="11" name="Text 9"/>
          <p:cNvSpPr/>
          <p:nvPr/>
        </p:nvSpPr>
        <p:spPr>
          <a:xfrm>
            <a:off x="1170432" y="34747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Agricultural worker, no landholding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3968496"/>
            <a:ext cx="82296" cy="82296"/>
          </a:xfrm>
          <a:prstGeom prst="ellipse">
            <a:avLst/>
          </a:prstGeom>
          <a:solidFill>
            <a:srgbClr val="9A3412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862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Household income: ₹1.4 lakh / year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4379976"/>
            <a:ext cx="82296" cy="82296"/>
          </a:xfrm>
          <a:prstGeom prst="ellipse">
            <a:avLst/>
          </a:prstGeom>
          <a:solidFill>
            <a:srgbClr val="9A3412"/>
          </a:solidFill>
          <a:ln/>
        </p:spPr>
      </p:sp>
      <p:sp>
        <p:nvSpPr>
          <p:cNvPr id="15" name="Text 13"/>
          <p:cNvSpPr/>
          <p:nvPr/>
        </p:nvSpPr>
        <p:spPr>
          <a:xfrm>
            <a:off x="1170432" y="429768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daughter, age 6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" y="4791456"/>
            <a:ext cx="82296" cy="82296"/>
          </a:xfrm>
          <a:prstGeom prst="ellipse">
            <a:avLst/>
          </a:prstGeom>
          <a:solidFill>
            <a:srgbClr val="9A3412"/>
          </a:solidFill>
          <a:ln/>
        </p:spPr>
      </p:sp>
      <p:sp>
        <p:nvSpPr>
          <p:cNvPr id="17" name="Text 15"/>
          <p:cNvSpPr/>
          <p:nvPr/>
        </p:nvSpPr>
        <p:spPr>
          <a:xfrm>
            <a:off x="1170432" y="470916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bank account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60120" y="5202936"/>
            <a:ext cx="82296" cy="82296"/>
          </a:xfrm>
          <a:prstGeom prst="ellipse">
            <a:avLst/>
          </a:prstGeom>
          <a:solidFill>
            <a:srgbClr val="9A3412"/>
          </a:solidFill>
          <a:ln/>
        </p:spPr>
      </p:sp>
      <p:sp>
        <p:nvSpPr>
          <p:cNvPr id="19" name="Text 17"/>
          <p:cNvSpPr/>
          <p:nvPr/>
        </p:nvSpPr>
        <p:spPr>
          <a:xfrm>
            <a:off x="1170432" y="512064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Lives in a kutcha house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56692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8716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profile. Three departments' worth of need.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74920" y="2148840"/>
            <a:ext cx="2130552" cy="1920240"/>
          </a:xfrm>
          <a:prstGeom prst="roundRect">
            <a:avLst>
              <a:gd name="adj" fmla="val 4762"/>
            </a:avLst>
          </a:prstGeom>
          <a:solidFill>
            <a:srgbClr val="FFFDF9"/>
          </a:solidFill>
          <a:ln w="12700">
            <a:solidFill>
              <a:srgbClr val="E7E0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57800" y="2331720"/>
            <a:ext cx="1764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34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Agriculture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257800" y="2834640"/>
            <a:ext cx="17647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Land records, occupation proof, a separate scheme PDF per ministry office.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60920" y="2148840"/>
            <a:ext cx="2130552" cy="1920240"/>
          </a:xfrm>
          <a:prstGeom prst="roundRect">
            <a:avLst>
              <a:gd name="adj" fmla="val 4762"/>
            </a:avLst>
          </a:prstGeom>
          <a:solidFill>
            <a:srgbClr val="FFFDF9"/>
          </a:solidFill>
          <a:ln w="12700">
            <a:solidFill>
              <a:srgbClr val="E7E0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3800" y="2331720"/>
            <a:ext cx="1764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34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Healthcare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43800" y="2834640"/>
            <a:ext cx="17647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SECC deprivation criteria, not income alone. A different portal to verify.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46920" y="2148840"/>
            <a:ext cx="2130552" cy="1920240"/>
          </a:xfrm>
          <a:prstGeom prst="roundRect">
            <a:avLst>
              <a:gd name="adj" fmla="val 4762"/>
            </a:avLst>
          </a:prstGeom>
          <a:solidFill>
            <a:srgbClr val="FFFDF9"/>
          </a:solidFill>
          <a:ln w="12700">
            <a:solidFill>
              <a:srgbClr val="E7E0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29800" y="2331720"/>
            <a:ext cx="1764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34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Financial inclusion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829800" y="2834640"/>
            <a:ext cx="17647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bank account yet. Pension and insurance schemes assume one already exists.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74920" y="4251960"/>
            <a:ext cx="6263640" cy="2057400"/>
          </a:xfrm>
          <a:prstGeom prst="roundRect">
            <a:avLst>
              <a:gd name="adj" fmla="val 5333"/>
            </a:avLst>
          </a:prstGeom>
          <a:solidFill>
            <a:srgbClr val="1C1917"/>
          </a:solidFill>
          <a:ln/>
        </p:spPr>
      </p:sp>
      <p:sp>
        <p:nvSpPr>
          <p:cNvPr id="31" name="Text 29"/>
          <p:cNvSpPr/>
          <p:nvPr/>
        </p:nvSpPr>
        <p:spPr>
          <a:xfrm>
            <a:off x="5440680" y="4480560"/>
            <a:ext cx="5532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AF7F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household. Three essential needs.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5440680" y="4919472"/>
            <a:ext cx="5532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FB923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Zero connected journeys.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5440680" y="5486400"/>
            <a:ext cx="5532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Government services are organized by department. People's lives are not.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34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ONE ASSISTED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Scan once. See everything you qualify for.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21792" y="1581912"/>
            <a:ext cx="4974336" cy="2269275"/>
          </a:xfrm>
          <a:prstGeom prst="roundRect">
            <a:avLst>
              <a:gd name="adj" fmla="val 3224"/>
            </a:avLst>
          </a:prstGeom>
          <a:solidFill>
            <a:srgbClr val="FFFFFF"/>
          </a:solidFill>
          <a:ln w="12700">
            <a:solidFill>
              <a:srgbClr val="E7E0D4"/>
            </a:solidFill>
            <a:prstDash val="solid"/>
          </a:ln>
        </p:spPr>
      </p:sp>
      <p:pic>
        <p:nvPicPr>
          <p:cNvPr id="5" name="Image 0" descr="/tmp/claude-1000/-home-zbone-Projects-HACKATHON-bitnbuild/103f494c-0bf7-4181-8c39-e402283e4b40/scratchpad/deck-assets/meena-f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4937760" cy="223269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82512" y="1581912"/>
            <a:ext cx="4974336" cy="2269275"/>
          </a:xfrm>
          <a:prstGeom prst="roundRect">
            <a:avLst>
              <a:gd name="adj" fmla="val 3224"/>
            </a:avLst>
          </a:prstGeom>
          <a:solidFill>
            <a:srgbClr val="FFFFFF"/>
          </a:solidFill>
          <a:ln w="12700">
            <a:solidFill>
              <a:srgbClr val="E7E0D4"/>
            </a:solidFill>
            <a:prstDash val="solid"/>
          </a:ln>
        </p:spPr>
      </p:sp>
      <p:pic>
        <p:nvPicPr>
          <p:cNvPr id="7" name="Image 1" descr="/tmp/claude-1000/-home-zbone-Projects-HACKATHON-bitnbuild/103f494c-0bf7-4181-8c39-e402283e4b40/scratchpad/deck-assets/meena-resul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4937760" cy="223269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3887763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Her situation, entered once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6400800" y="3887763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8716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 schemes, sorted by category, each with a reason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640080" y="4335819"/>
            <a:ext cx="3566160" cy="71323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680" y="4390683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F4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Agriculture &amp; livelihood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68680" y="4665003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F4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MGNREGA, PM-SYM pension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389120" y="4335819"/>
            <a:ext cx="3566160" cy="71323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17720" y="4390683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F4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Healthcare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617720" y="4665003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F4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Ayushman Bharat PM-JAY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8138160" y="4335819"/>
            <a:ext cx="3566160" cy="71323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66760" y="4390683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F4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Financial inclusion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366760" y="4665003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F4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Jan Dhan, Atal Pension Yojana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40080" y="5204499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document scan is the common intake layer: it extracts age, income, occupation, state, category and land holding once, and the rules engine checks every domain against those same facts.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B92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VERIFIABLE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AF7F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privacy promise is structural, not a policy.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847088" cy="868680"/>
          </a:xfrm>
          <a:prstGeom prst="roundRect">
            <a:avLst>
              <a:gd name="adj" fmla="val 8421"/>
            </a:avLst>
          </a:prstGeom>
          <a:solidFill>
            <a:srgbClr val="241F1C"/>
          </a:solidFill>
          <a:ln w="12700">
            <a:solidFill>
              <a:srgbClr val="4440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20824"/>
            <a:ext cx="16642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7F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frontend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2368296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React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487168" y="20574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07208" y="1874520"/>
            <a:ext cx="1847088" cy="868680"/>
          </a:xfrm>
          <a:prstGeom prst="roundRect">
            <a:avLst>
              <a:gd name="adj" fmla="val 8421"/>
            </a:avLst>
          </a:prstGeom>
          <a:solidFill>
            <a:srgbClr val="241F1C"/>
          </a:solidFill>
          <a:ln w="12700">
            <a:solidFill>
              <a:srgbClr val="4440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2020824"/>
            <a:ext cx="16642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7F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api-gateway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852928" y="2368296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Rust / Axum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54296" y="20574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974336" y="1874520"/>
            <a:ext cx="1847088" cy="868680"/>
          </a:xfrm>
          <a:prstGeom prst="roundRect">
            <a:avLst>
              <a:gd name="adj" fmla="val 8421"/>
            </a:avLst>
          </a:prstGeom>
          <a:solidFill>
            <a:srgbClr val="241F1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65776" y="2020824"/>
            <a:ext cx="16642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7F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0056" y="2368296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document.jobs.*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821424" y="20574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141464" y="1874520"/>
            <a:ext cx="1847088" cy="868680"/>
          </a:xfrm>
          <a:prstGeom prst="roundRect">
            <a:avLst>
              <a:gd name="adj" fmla="val 8421"/>
            </a:avLst>
          </a:prstGeom>
          <a:solidFill>
            <a:srgbClr val="241F1C"/>
          </a:solidFill>
          <a:ln w="12700">
            <a:solidFill>
              <a:srgbClr val="4440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2904" y="2020824"/>
            <a:ext cx="16642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7F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ocr-worker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187184" y="2368296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scales independently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988552" y="20574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08592" y="1874520"/>
            <a:ext cx="1847088" cy="868680"/>
          </a:xfrm>
          <a:prstGeom prst="roundRect">
            <a:avLst>
              <a:gd name="adj" fmla="val 8421"/>
            </a:avLst>
          </a:prstGeom>
          <a:solidFill>
            <a:srgbClr val="241F1C"/>
          </a:solidFill>
          <a:ln w="12700">
            <a:solidFill>
              <a:srgbClr val="4440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00032" y="2020824"/>
            <a:ext cx="16642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AF7F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Claude Vision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354312" y="2368296"/>
            <a:ext cx="175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claude-haiku-4-5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29718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Redis: ephemeral handoff only, 60s image TTL, GETDEL on read, never a datastore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4747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241F1C"/>
          </a:solidFill>
          <a:ln w="12700">
            <a:solidFill>
              <a:srgbClr val="4440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363931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document.jobs.completed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400507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7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 job_id, status,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427939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7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fields: { age, income, state,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55371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7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category, land, occupation },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4400" y="482803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7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ts }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17720" y="4937760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3F1D1D"/>
          </a:solidFill>
          <a:ln/>
        </p:spPr>
      </p:sp>
      <p:sp>
        <p:nvSpPr>
          <p:cNvPr id="31" name="Text 29"/>
          <p:cNvSpPr/>
          <p:nvPr/>
        </p:nvSpPr>
        <p:spPr>
          <a:xfrm>
            <a:off x="4617720" y="4937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CA5A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image: never a field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63640" y="347472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241F1C"/>
          </a:solidFill>
          <a:ln w="12700">
            <a:solidFill>
              <a:srgbClr val="4440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0" y="35478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923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&lt; 2s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6400800" y="391363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eligibility result returned, measured on this build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006840" y="347472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241F1C"/>
          </a:solidFill>
          <a:ln w="12700">
            <a:solidFill>
              <a:srgbClr val="4440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0" y="35478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923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6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9144000" y="391363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fields extracted from one scanned document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263640" y="443484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241F1C"/>
          </a:solidFill>
          <a:ln w="12700">
            <a:solidFill>
              <a:srgbClr val="4440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45079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923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</a:t>
            </a:r>
            <a:endParaRPr lang="en-US" sz="1900" dirty="0"/>
          </a:p>
        </p:txBody>
      </p:sp>
      <p:sp>
        <p:nvSpPr>
          <p:cNvPr id="40" name="Text 38"/>
          <p:cNvSpPr/>
          <p:nvPr/>
        </p:nvSpPr>
        <p:spPr>
          <a:xfrm>
            <a:off x="6400800" y="487375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 fields across both Kafka event schemas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9006840" y="443484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241F1C"/>
          </a:solidFill>
          <a:ln w="12700">
            <a:solidFill>
              <a:srgbClr val="44403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0" y="45079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923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independent</a:t>
            </a:r>
            <a:endParaRPr lang="en-US" sz="1900" dirty="0"/>
          </a:p>
        </p:txBody>
      </p:sp>
      <p:sp>
        <p:nvSpPr>
          <p:cNvPr id="43" name="Text 41"/>
          <p:cNvSpPr/>
          <p:nvPr/>
        </p:nvSpPr>
        <p:spPr>
          <a:xfrm>
            <a:off x="9144000" y="487375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ocr-worker scales apart from eligibility matching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40080" y="5394960"/>
            <a:ext cx="10908792" cy="731520"/>
          </a:xfrm>
          <a:prstGeom prst="roundRect">
            <a:avLst>
              <a:gd name="adj" fmla="val 10000"/>
            </a:avLst>
          </a:prstGeom>
          <a:solidFill>
            <a:srgbClr val="241F1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539496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AF7F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Graceful failure by design: if the OCR worker is unavailable, /api/match still runs. Eligibility checking has zero dependency on the vision pipeline.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34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· FEASIBILITY, SCALABILITY &amp;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 household today. Every CSC and NGO desk tomorrow.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7E0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34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43 / 43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3591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Rust unit tests passing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43400" y="18288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7E0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9202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34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43 / 43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26280" y="23591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schemes with a cited official source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0" y="18288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7E0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9202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34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0" y="23591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deploy targets: Railway, Docker Compose, kind + Helm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9718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7E0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0632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34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" y="35021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languages fully wired end to end: English, Hindi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43400" y="29718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7E0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30632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34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 → 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26280" y="35021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ocr-worker replicas, HPA-scaled under real load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46720" y="29718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DF9"/>
          </a:solidFill>
          <a:ln w="12700">
            <a:solidFill>
              <a:srgbClr val="E7E0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30632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341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229600" y="350215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plaintext secrets in the repo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416052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917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Scale is the same flow, more desks.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6634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9A341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F7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3000" y="468172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household, self-assessing at home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16636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9A341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5166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F7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43000" y="518464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Common Service Centre operator, same form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56692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9A341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669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F7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568756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NGO field worker, same checklist output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406640" y="461772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1C1917"/>
          </a:solidFill>
          <a:ln/>
        </p:spPr>
      </p:sp>
      <p:sp>
        <p:nvSpPr>
          <p:cNvPr id="33" name="Text 31"/>
          <p:cNvSpPr/>
          <p:nvPr/>
        </p:nvSpPr>
        <p:spPr>
          <a:xfrm>
            <a:off x="7635240" y="47731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Scope, stated plainly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35240" y="507492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43 central government schemes, hand curated and not exhaustive. Every match reads worth checking, not approved, and links to the official portal to verify.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B92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· PROTOTYPE &amp; FUTURE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6035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AF7F2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From document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035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FB923C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to benefit checklist.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2697480" cy="502920"/>
          </a:xfrm>
          <a:prstGeom prst="roundRect">
            <a:avLst>
              <a:gd name="adj" fmla="val 50909"/>
            </a:avLst>
          </a:prstGeom>
          <a:solidFill>
            <a:srgbClr val="241F1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88036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AF7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labhsathi.info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520440" y="288036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241F1C"/>
          </a:solidFill>
          <a:ln w="12700">
            <a:solidFill>
              <a:srgbClr val="4440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88036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AF7F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github.com/zb8ne/labhsathi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923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2062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341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420624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Hindi for the dynamically generated why-you-matched sentences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70916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341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4709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real household-member model, not one shared income field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52120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341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212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SMS / WhatsApp front-end for low-smartphone-literacy users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341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57150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8A2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KEDA autoscaling and 3-broker Kafka for production durability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85432" y="1124712"/>
            <a:ext cx="4261104" cy="1956793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/>
        </p:spPr>
      </p:sp>
      <p:pic>
        <p:nvPicPr>
          <p:cNvPr id="19" name="Image 0" descr="/tmp/claude-1000/-home-zbone-Projects-HACKATHON-bitnbuild/103f494c-0bf7-4181-8c39-e402283e4b40/scratchpad/deck-assets/meena-resul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2" y="1170432"/>
            <a:ext cx="4206240" cy="1901929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931152" y="3300961"/>
            <a:ext cx="1402080" cy="54864"/>
          </a:xfrm>
          <a:prstGeom prst="rect">
            <a:avLst/>
          </a:prstGeom>
          <a:solidFill>
            <a:srgbClr val="9A34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3232" y="3300961"/>
            <a:ext cx="1402080" cy="54864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22" name="Shape 19"/>
          <p:cNvSpPr/>
          <p:nvPr/>
        </p:nvSpPr>
        <p:spPr>
          <a:xfrm>
            <a:off x="9735312" y="3300961"/>
            <a:ext cx="140208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3" name="Text 20"/>
          <p:cNvSpPr/>
          <p:nvPr/>
        </p:nvSpPr>
        <p:spPr>
          <a:xfrm>
            <a:off x="6931152" y="3575281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Bit N Build Hackathon 2026 · Jan Jeevan track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2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06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LabhSathi: Bit N Build 2026</dc:title>
  <dc:subject>PptxGenJS Presentation</dc:subject>
  <dc:creator>LabhSathi</dc:creator>
  <cp:lastModifiedBy>LabhSathi</cp:lastModifiedBy>
  <cp:revision>1</cp:revision>
  <dcterms:created xsi:type="dcterms:W3CDTF">2026-09-12T08:09:46Z</dcterms:created>
  <dcterms:modified xsi:type="dcterms:W3CDTF">2026-09-12T08:09:46Z</dcterms:modified>
</cp:coreProperties>
</file>